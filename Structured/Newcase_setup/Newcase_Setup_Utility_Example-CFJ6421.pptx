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2" r:id="rId4"/>
    <p:sldId id="261" r:id="rId5"/>
    <p:sldId id="260" r:id="rId6"/>
    <p:sldId id="263" r:id="rId7"/>
    <p:sldId id="264" r:id="rId8"/>
    <p:sldId id="267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0BFB-C744-47CC-9A74-705729A3ED2A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CEA3-7668-4AA2-B4A6-4142F00E1C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683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0BFB-C744-47CC-9A74-705729A3ED2A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Yunchao Yang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CEA3-7668-4AA2-B4A6-4142F00E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62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0BFB-C744-47CC-9A74-705729A3ED2A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CEA3-7668-4AA2-B4A6-4142F00E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7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0BFB-C744-47CC-9A74-705729A3ED2A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CEA3-7668-4AA2-B4A6-4142F00E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29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0BFB-C744-47CC-9A74-705729A3ED2A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CEA3-7668-4AA2-B4A6-4142F00E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204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0BFB-C744-47CC-9A74-705729A3ED2A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CEA3-7668-4AA2-B4A6-4142F00E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4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0BFB-C744-47CC-9A74-705729A3ED2A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CEA3-7668-4AA2-B4A6-4142F00E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819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0BFB-C744-47CC-9A74-705729A3ED2A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CEA3-7668-4AA2-B4A6-4142F00E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11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0BFB-C744-47CC-9A74-705729A3ED2A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CEA3-7668-4AA2-B4A6-4142F00E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81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0BFB-C744-47CC-9A74-705729A3ED2A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CEA3-7668-4AA2-B4A6-4142F00E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92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0BFB-C744-47CC-9A74-705729A3ED2A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CEA3-7668-4AA2-B4A6-4142F00E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899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275D-9727-4A1B-860E-E967C59409F2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5831-2A6E-4C65-8993-8930CF5ED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2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275D-9727-4A1B-860E-E967C59409F2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5831-2A6E-4C65-8993-8930CF5ED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500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275D-9727-4A1B-860E-E967C59409F2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5831-2A6E-4C65-8993-8930CF5ED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375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275D-9727-4A1B-860E-E967C59409F2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5831-2A6E-4C65-8993-8930CF5ED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64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275D-9727-4A1B-860E-E967C59409F2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5831-2A6E-4C65-8993-8930CF5ED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179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275D-9727-4A1B-860E-E967C59409F2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5831-2A6E-4C65-8993-8930CF5ED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83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275D-9727-4A1B-860E-E967C59409F2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5831-2A6E-4C65-8993-8930CF5ED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468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275D-9727-4A1B-860E-E967C59409F2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5831-2A6E-4C65-8993-8930CF5ED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6012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275D-9727-4A1B-860E-E967C59409F2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5831-2A6E-4C65-8993-8930CF5ED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445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275D-9727-4A1B-860E-E967C59409F2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5831-2A6E-4C65-8993-8930CF5ED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7218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275D-9727-4A1B-860E-E967C59409F2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5831-2A6E-4C65-8993-8930CF5ED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2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2/15/17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YUNCHAO YANG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ECEA3-7668-4AA2-B4A6-4142F00E1C8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0062891" y="6273225"/>
            <a:ext cx="21291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Parchment" panose="03040602040708040804" pitchFamily="66" charset="0"/>
                <a:cs typeface="Times New Roman" panose="02020603050405020304" pitchFamily="18" charset="0"/>
              </a:rPr>
              <a:t>Yunchao Yang 2/15/17</a:t>
            </a:r>
          </a:p>
        </p:txBody>
      </p:sp>
    </p:spTree>
    <p:extLst>
      <p:ext uri="{BB962C8B-B14F-4D97-AF65-F5344CB8AC3E}">
        <p14:creationId xmlns:p14="http://schemas.microsoft.com/office/powerpoint/2010/main" val="116273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7275D-9727-4A1B-860E-E967C59409F2}" type="datetimeFigureOut">
              <a:rPr lang="en-US" smtClean="0"/>
              <a:t>2/15/2017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YUNCHAO YANG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C5831-2A6E-4C65-8993-8930CF5ED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0828" y="111841"/>
            <a:ext cx="9144000" cy="1297144"/>
          </a:xfrm>
        </p:spPr>
        <p:txBody>
          <a:bodyPr/>
          <a:lstStyle/>
          <a:p>
            <a:r>
              <a:rPr lang="en-US" dirty="0"/>
              <a:t>CFJ-A6421 – New case setup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38736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Aerodynamics &amp; CFD Lab</a:t>
            </a:r>
          </a:p>
          <a:p>
            <a:r>
              <a:rPr lang="en-US" dirty="0"/>
              <a:t>University of Miami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152" y="2437833"/>
            <a:ext cx="8099867" cy="3984171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4241075" y="4528457"/>
            <a:ext cx="1031965" cy="262584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720045" y="3453992"/>
            <a:ext cx="801190" cy="320890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326674" y="4127863"/>
            <a:ext cx="391886" cy="18288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</p:cNvCxnSpPr>
          <p:nvPr/>
        </p:nvCxnSpPr>
        <p:spPr>
          <a:xfrm flipV="1">
            <a:off x="6257108" y="2854408"/>
            <a:ext cx="279121" cy="1007069"/>
          </a:xfrm>
          <a:prstGeom prst="straightConnector1">
            <a:avLst/>
          </a:prstGeom>
          <a:ln w="571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</p:cNvCxnSpPr>
          <p:nvPr/>
        </p:nvCxnSpPr>
        <p:spPr>
          <a:xfrm flipV="1">
            <a:off x="7470403" y="4219303"/>
            <a:ext cx="980460" cy="530428"/>
          </a:xfrm>
          <a:prstGeom prst="straightConnector1">
            <a:avLst/>
          </a:prstGeom>
          <a:ln w="571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</p:cNvCxnSpPr>
          <p:nvPr/>
        </p:nvCxnSpPr>
        <p:spPr>
          <a:xfrm>
            <a:off x="7802379" y="5501073"/>
            <a:ext cx="777561" cy="462847"/>
          </a:xfrm>
          <a:prstGeom prst="straightConnector1">
            <a:avLst/>
          </a:prstGeom>
          <a:ln w="571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H="1">
            <a:off x="5997470" y="5187331"/>
            <a:ext cx="64924" cy="850878"/>
          </a:xfrm>
          <a:prstGeom prst="straightConnector1">
            <a:avLst/>
          </a:prstGeom>
          <a:ln w="571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</p:cNvCxnSpPr>
          <p:nvPr/>
        </p:nvCxnSpPr>
        <p:spPr>
          <a:xfrm flipH="1">
            <a:off x="4508809" y="4923457"/>
            <a:ext cx="126608" cy="809039"/>
          </a:xfrm>
          <a:prstGeom prst="straightConnector1">
            <a:avLst/>
          </a:prstGeom>
          <a:ln w="571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2350866" y="3298610"/>
            <a:ext cx="770037" cy="544433"/>
          </a:xfrm>
          <a:prstGeom prst="straightConnector1">
            <a:avLst/>
          </a:prstGeom>
          <a:ln w="571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3787557" y="2442004"/>
            <a:ext cx="217939" cy="752203"/>
          </a:xfrm>
          <a:prstGeom prst="straightConnector1">
            <a:avLst/>
          </a:prstGeom>
          <a:ln w="571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5477468" y="4803731"/>
            <a:ext cx="391886" cy="18288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6845160" y="5113042"/>
            <a:ext cx="391886" cy="18288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6906345" y="4791041"/>
            <a:ext cx="391886" cy="18288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6152828" y="4242663"/>
            <a:ext cx="391886" cy="18288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4219526" y="3388962"/>
            <a:ext cx="391886" cy="18288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4057140" y="4325417"/>
                <a:ext cx="1895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𝜻</m:t>
                      </m:r>
                    </m:oMath>
                  </m:oMathPara>
                </a14:m>
                <a:endParaRPr lang="en-US" sz="2000" b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140" y="4325417"/>
                <a:ext cx="189539" cy="307777"/>
              </a:xfrm>
              <a:prstGeom prst="rect">
                <a:avLst/>
              </a:prstGeom>
              <a:blipFill rotWithShape="0">
                <a:blip r:embed="rId3"/>
                <a:stretch>
                  <a:fillRect l="-45161" r="-48387"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6724885" y="3311825"/>
                <a:ext cx="29815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𝜼</m:t>
                      </m:r>
                    </m:oMath>
                  </m:oMathPara>
                </a14:m>
                <a:endParaRPr lang="en-US" sz="2800" b="1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885" y="3311825"/>
                <a:ext cx="298159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3921846" y="3516145"/>
                <a:ext cx="26770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𝝃</m:t>
                      </m:r>
                    </m:oMath>
                  </m:oMathPara>
                </a14:m>
                <a:endParaRPr 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846" y="3516145"/>
                <a:ext cx="26770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>
            <a:cxnSpLocks/>
          </p:cNvCxnSpPr>
          <p:nvPr/>
        </p:nvCxnSpPr>
        <p:spPr>
          <a:xfrm flipH="1">
            <a:off x="2997051" y="4407785"/>
            <a:ext cx="307518" cy="648545"/>
          </a:xfrm>
          <a:prstGeom prst="straightConnector1">
            <a:avLst/>
          </a:prstGeom>
          <a:ln w="571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406" y="60960"/>
            <a:ext cx="8115434" cy="867563"/>
          </a:xfrm>
        </p:spPr>
        <p:txBody>
          <a:bodyPr>
            <a:noAutofit/>
          </a:bodyPr>
          <a:lstStyle/>
          <a:p>
            <a:r>
              <a:rPr lang="en-US" sz="3600" b="1" dirty="0"/>
              <a:t>Steps to generate organized Large mesh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337" y="928524"/>
            <a:ext cx="11214463" cy="5248440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dirty="0">
                <a:solidFill>
                  <a:prstClr val="black"/>
                </a:solidFill>
              </a:rPr>
              <a:t>0 From the geometry, find the right mesh topology</a:t>
            </a: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pPr lvl="0"/>
            <a:r>
              <a:rPr lang="en-US" dirty="0">
                <a:solidFill>
                  <a:prstClr val="black"/>
                </a:solidFill>
              </a:rPr>
              <a:t>1 Generate  big blocks </a:t>
            </a:r>
          </a:p>
          <a:p>
            <a:pPr lvl="1">
              <a:spcBef>
                <a:spcPts val="1000"/>
              </a:spcBef>
            </a:pPr>
            <a:r>
              <a:rPr lang="en-US" sz="2800" dirty="0">
                <a:solidFill>
                  <a:prstClr val="black"/>
                </a:solidFill>
              </a:rPr>
              <a:t>Big blocks 1 for outer mesh</a:t>
            </a:r>
          </a:p>
          <a:p>
            <a:pPr lvl="1">
              <a:spcBef>
                <a:spcPts val="1000"/>
              </a:spcBef>
            </a:pPr>
            <a:r>
              <a:rPr lang="en-US" sz="2800" dirty="0">
                <a:solidFill>
                  <a:prstClr val="black"/>
                </a:solidFill>
              </a:rPr>
              <a:t>Big blocks 2 for inner mesh</a:t>
            </a:r>
          </a:p>
          <a:p>
            <a:pPr lvl="1">
              <a:spcBef>
                <a:spcPts val="1000"/>
              </a:spcBef>
            </a:pPr>
            <a:endParaRPr lang="en-US" sz="2800" dirty="0">
              <a:solidFill>
                <a:prstClr val="black"/>
              </a:solidFill>
            </a:endParaRPr>
          </a:p>
          <a:p>
            <a:pPr lvl="0"/>
            <a:r>
              <a:rPr lang="en-US" dirty="0">
                <a:solidFill>
                  <a:prstClr val="black"/>
                </a:solidFill>
              </a:rPr>
              <a:t>2 use </a:t>
            </a:r>
            <a:r>
              <a:rPr lang="en-US" dirty="0" err="1">
                <a:solidFill>
                  <a:prstClr val="black"/>
                </a:solidFill>
              </a:rPr>
              <a:t>blocksplitter.o</a:t>
            </a:r>
            <a:r>
              <a:rPr lang="en-US" dirty="0">
                <a:solidFill>
                  <a:prstClr val="black"/>
                </a:solidFill>
              </a:rPr>
              <a:t> to split to small blocks</a:t>
            </a: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pPr lvl="0"/>
            <a:r>
              <a:rPr lang="en-US" dirty="0">
                <a:solidFill>
                  <a:prstClr val="black"/>
                </a:solidFill>
              </a:rPr>
              <a:t>3 Import the </a:t>
            </a:r>
            <a:r>
              <a:rPr lang="en-US" dirty="0" err="1">
                <a:solidFill>
                  <a:prstClr val="black"/>
                </a:solidFill>
              </a:rPr>
              <a:t>splitted</a:t>
            </a:r>
            <a:r>
              <a:rPr lang="en-US" dirty="0">
                <a:solidFill>
                  <a:prstClr val="black"/>
                </a:solidFill>
              </a:rPr>
              <a:t> blocks to pointwise</a:t>
            </a: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pPr lvl="0"/>
            <a:r>
              <a:rPr lang="en-US" dirty="0">
                <a:solidFill>
                  <a:prstClr val="black"/>
                </a:solidFill>
              </a:rPr>
              <a:t>4 check the volume and skewness</a:t>
            </a: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pPr lvl="0"/>
            <a:r>
              <a:rPr lang="en-US" dirty="0">
                <a:solidFill>
                  <a:prstClr val="black"/>
                </a:solidFill>
              </a:rPr>
              <a:t>5 Export the whole mesh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1" t="3567" r="39900" b="3204"/>
          <a:stretch/>
        </p:blipFill>
        <p:spPr>
          <a:xfrm>
            <a:off x="7576459" y="535691"/>
            <a:ext cx="2631371" cy="31934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4" t="21719" r="1143" b="9449"/>
          <a:stretch/>
        </p:blipFill>
        <p:spPr>
          <a:xfrm>
            <a:off x="6242960" y="4121983"/>
            <a:ext cx="5672150" cy="21423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51840" y="1321356"/>
            <a:ext cx="1280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Big blocks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86080" y="4616098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Big block 2</a:t>
            </a:r>
          </a:p>
        </p:txBody>
      </p:sp>
    </p:spTree>
    <p:extLst>
      <p:ext uri="{BB962C8B-B14F-4D97-AF65-F5344CB8AC3E}">
        <p14:creationId xmlns:p14="http://schemas.microsoft.com/office/powerpoint/2010/main" val="1339105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694" y="205424"/>
            <a:ext cx="10515600" cy="947208"/>
          </a:xfrm>
        </p:spPr>
        <p:txBody>
          <a:bodyPr>
            <a:normAutofit/>
          </a:bodyPr>
          <a:lstStyle/>
          <a:p>
            <a:r>
              <a:rPr lang="en-US" sz="4000" b="1" dirty="0"/>
              <a:t>Multi-Block distribution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7" t="3825" r="21569" b="5609"/>
          <a:stretch/>
        </p:blipFill>
        <p:spPr>
          <a:xfrm>
            <a:off x="6529873" y="205424"/>
            <a:ext cx="4525347" cy="40923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29873" y="317091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Block 1-300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2453" y="1647297"/>
            <a:ext cx="4259425" cy="2544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</a:rPr>
              <a:t>Outer mesh 1-300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</a:rPr>
              <a:t>Inner mesh 301-348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</a:rPr>
              <a:t>INJ Block 	301-304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</a:rPr>
              <a:t>Connect	305-344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</a:rPr>
              <a:t>SUC Block 	345-348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4" t="21719" r="1143" b="9449"/>
          <a:stretch/>
        </p:blipFill>
        <p:spPr>
          <a:xfrm>
            <a:off x="5956471" y="4475059"/>
            <a:ext cx="5672150" cy="21423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58073" y="5072661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Block </a:t>
            </a:r>
            <a:r>
              <a:rPr lang="en-US" dirty="0">
                <a:solidFill>
                  <a:schemeClr val="bg1"/>
                </a:solidFill>
              </a:rPr>
              <a:t>301-348</a:t>
            </a:r>
          </a:p>
        </p:txBody>
      </p:sp>
    </p:spTree>
    <p:extLst>
      <p:ext uri="{BB962C8B-B14F-4D97-AF65-F5344CB8AC3E}">
        <p14:creationId xmlns:p14="http://schemas.microsoft.com/office/powerpoint/2010/main" val="2839882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86" y="1"/>
            <a:ext cx="10940920" cy="1227908"/>
          </a:xfrm>
        </p:spPr>
        <p:txBody>
          <a:bodyPr/>
          <a:lstStyle/>
          <a:p>
            <a:r>
              <a:rPr lang="en-US" dirty="0"/>
              <a:t>BC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532" y="1361648"/>
            <a:ext cx="11108405" cy="36457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Inlet        </a:t>
            </a:r>
            <a:r>
              <a:rPr lang="en-US" dirty="0" err="1"/>
              <a:t>bctype</a:t>
            </a:r>
            <a:r>
              <a:rPr lang="en-US" dirty="0"/>
              <a:t> = 6:	 eta=60,	 block 201-249(49)	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Outlet     </a:t>
            </a:r>
            <a:r>
              <a:rPr lang="en-US" dirty="0" err="1"/>
              <a:t>bctype</a:t>
            </a:r>
            <a:r>
              <a:rPr lang="en-US" dirty="0"/>
              <a:t> = 5:	 eta=60, 	 block 250-300(51)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CFJ </a:t>
            </a:r>
            <a:r>
              <a:rPr lang="en-US" dirty="0" err="1"/>
              <a:t>Inj</a:t>
            </a:r>
            <a:r>
              <a:rPr lang="en-US" dirty="0"/>
              <a:t>     </a:t>
            </a:r>
            <a:r>
              <a:rPr lang="en-US" dirty="0" err="1"/>
              <a:t>bctype</a:t>
            </a:r>
            <a:r>
              <a:rPr lang="en-US" dirty="0"/>
              <a:t> = 9:	 </a:t>
            </a:r>
            <a:r>
              <a:rPr lang="en-US" dirty="0" err="1"/>
              <a:t>xie</a:t>
            </a:r>
            <a:r>
              <a:rPr lang="en-US" dirty="0"/>
              <a:t> = 1,	 block 301-304(4)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CFJ </a:t>
            </a:r>
            <a:r>
              <a:rPr lang="en-US" dirty="0" err="1"/>
              <a:t>Suc</a:t>
            </a:r>
            <a:r>
              <a:rPr lang="en-US" dirty="0"/>
              <a:t>   </a:t>
            </a:r>
            <a:r>
              <a:rPr lang="en-US" dirty="0" err="1"/>
              <a:t>bctype</a:t>
            </a:r>
            <a:r>
              <a:rPr lang="en-US" dirty="0"/>
              <a:t> = 5:	 </a:t>
            </a:r>
            <a:r>
              <a:rPr lang="en-US" dirty="0" err="1"/>
              <a:t>xie</a:t>
            </a:r>
            <a:r>
              <a:rPr lang="en-US" dirty="0"/>
              <a:t>=10,	 block 345-348(4)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Periodic </a:t>
            </a:r>
            <a:r>
              <a:rPr lang="en-US" dirty="0" err="1"/>
              <a:t>bctype</a:t>
            </a:r>
            <a:r>
              <a:rPr lang="en-US" dirty="0"/>
              <a:t> = 10 </a:t>
            </a:r>
          </a:p>
          <a:p>
            <a:pPr lvl="8">
              <a:buFont typeface="Wingdings" panose="05000000000000000000" pitchFamily="2" charset="2"/>
              <a:buChar char="§"/>
            </a:pPr>
            <a:r>
              <a:rPr lang="en-US" sz="2800" dirty="0" err="1"/>
              <a:t>zta</a:t>
            </a:r>
            <a:r>
              <a:rPr lang="en-US" sz="2800" dirty="0"/>
              <a:t>=1,	 block 1-348(348)</a:t>
            </a:r>
          </a:p>
          <a:p>
            <a:pPr lvl="8">
              <a:buFont typeface="Wingdings" panose="05000000000000000000" pitchFamily="2" charset="2"/>
              <a:buChar char="§"/>
            </a:pPr>
            <a:r>
              <a:rPr lang="en-US" sz="2800" dirty="0" err="1"/>
              <a:t>zta</a:t>
            </a:r>
            <a:r>
              <a:rPr lang="en-US" sz="2800" dirty="0"/>
              <a:t>=50,	 block 1-348(348)</a:t>
            </a:r>
          </a:p>
        </p:txBody>
      </p:sp>
    </p:spTree>
    <p:extLst>
      <p:ext uri="{BB962C8B-B14F-4D97-AF65-F5344CB8AC3E}">
        <p14:creationId xmlns:p14="http://schemas.microsoft.com/office/powerpoint/2010/main" val="290382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28" y="47896"/>
            <a:ext cx="10515600" cy="822961"/>
          </a:xfrm>
        </p:spPr>
        <p:txBody>
          <a:bodyPr>
            <a:normAutofit/>
          </a:bodyPr>
          <a:lstStyle/>
          <a:p>
            <a:r>
              <a:rPr lang="en-US" sz="3200" dirty="0"/>
              <a:t>Edit the </a:t>
            </a:r>
            <a:r>
              <a:rPr lang="en-US" sz="3200" dirty="0" err="1"/>
              <a:t>bcdefine.datain.small</a:t>
            </a:r>
            <a:r>
              <a:rPr lang="en-US" sz="3200" dirty="0"/>
              <a:t>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49262" y="3680379"/>
            <a:ext cx="6701868" cy="3645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C00000"/>
                </a:solidFill>
              </a:rPr>
              <a:t>Inlet        </a:t>
            </a:r>
            <a:r>
              <a:rPr lang="en-US" sz="1600" dirty="0" err="1">
                <a:solidFill>
                  <a:srgbClr val="C00000"/>
                </a:solidFill>
              </a:rPr>
              <a:t>bctype</a:t>
            </a:r>
            <a:r>
              <a:rPr lang="en-US" sz="1600" dirty="0">
                <a:solidFill>
                  <a:srgbClr val="C00000"/>
                </a:solidFill>
              </a:rPr>
              <a:t> = 6: 49 blocks, eta=60,	201-249	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Outlet     </a:t>
            </a:r>
            <a:r>
              <a:rPr lang="en-US" sz="1600" dirty="0" err="1"/>
              <a:t>bctype</a:t>
            </a:r>
            <a:r>
              <a:rPr lang="en-US" sz="1600" dirty="0"/>
              <a:t> = 5: 51 blocks, eta=60, 	 250-300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CFJ </a:t>
            </a:r>
            <a:r>
              <a:rPr lang="en-US" sz="1600" dirty="0" err="1"/>
              <a:t>Inj</a:t>
            </a:r>
            <a:r>
              <a:rPr lang="en-US" sz="1600" dirty="0"/>
              <a:t>     </a:t>
            </a:r>
            <a:r>
              <a:rPr lang="en-US" sz="1600" dirty="0" err="1"/>
              <a:t>bctype</a:t>
            </a:r>
            <a:r>
              <a:rPr lang="en-US" sz="1600" dirty="0"/>
              <a:t> = 9:  4 blocks	</a:t>
            </a:r>
            <a:r>
              <a:rPr lang="en-US" sz="1600" dirty="0" err="1"/>
              <a:t>xie</a:t>
            </a:r>
            <a:r>
              <a:rPr lang="en-US" sz="1600" dirty="0"/>
              <a:t> = 1,	 301-304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CFJ </a:t>
            </a:r>
            <a:r>
              <a:rPr lang="en-US" sz="1600" dirty="0" err="1"/>
              <a:t>Suc</a:t>
            </a:r>
            <a:r>
              <a:rPr lang="en-US" sz="1600" dirty="0"/>
              <a:t>   </a:t>
            </a:r>
            <a:r>
              <a:rPr lang="en-US" sz="1600" dirty="0" err="1"/>
              <a:t>bctype</a:t>
            </a:r>
            <a:r>
              <a:rPr lang="en-US" sz="1600" dirty="0"/>
              <a:t> = 5:  4 blocks 	</a:t>
            </a:r>
            <a:r>
              <a:rPr lang="en-US" sz="1600" dirty="0" err="1"/>
              <a:t>xie</a:t>
            </a:r>
            <a:r>
              <a:rPr lang="en-US" sz="1600" dirty="0"/>
              <a:t>=10,	 345-348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Periodic </a:t>
            </a:r>
            <a:r>
              <a:rPr lang="en-US" sz="1600" dirty="0" err="1"/>
              <a:t>bctype</a:t>
            </a:r>
            <a:r>
              <a:rPr lang="en-US" sz="1600" dirty="0"/>
              <a:t> = 10: 348 blocks </a:t>
            </a:r>
            <a:r>
              <a:rPr lang="en-US" sz="1600" dirty="0" err="1"/>
              <a:t>zta</a:t>
            </a:r>
            <a:r>
              <a:rPr lang="en-US" sz="1600" dirty="0"/>
              <a:t>=1,	 1-348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Periodic </a:t>
            </a:r>
            <a:r>
              <a:rPr lang="en-US" sz="1600" dirty="0" err="1"/>
              <a:t>bctype</a:t>
            </a:r>
            <a:r>
              <a:rPr lang="en-US" sz="1600" dirty="0"/>
              <a:t> = 10: 348 blocks  </a:t>
            </a:r>
            <a:r>
              <a:rPr lang="en-US" sz="1600" dirty="0" err="1"/>
              <a:t>zta</a:t>
            </a:r>
            <a:r>
              <a:rPr lang="en-US" sz="1600" dirty="0"/>
              <a:t>=50,	 1-348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463385" y="4348686"/>
            <a:ext cx="1271451" cy="6008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6969658" y="3040929"/>
            <a:ext cx="5111930" cy="321640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6,49            !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bctype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number of blocks,  Inlet</a:t>
            </a:r>
          </a:p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201,2,60     ! start block,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bc-dir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(1,2,3),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bc_minmax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(1,max)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5,51            !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bctype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number,  Outlet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250,2,60     ! start block,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bc-dir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(1,2,3),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bc_minmax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(1,max)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 348       !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bctype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number, Periodic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1,3,1           ! start block,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bc-dir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(1,2,3),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bc_minmax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(1,max)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 348       !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bctype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number, Periodic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1,3,50         ! start block,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bc-dir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(1,2,3),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bc_minmax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(1,max)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9,1              !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bctype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number, Injection inlet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301,1,1       ! start block,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bc-dir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(1,2,3),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bc_minmax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(1,max)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5,1               !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bctype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number, Suction outlet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348,1,20      ! start block,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bc-dir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(1,2,3),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bc_minmax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(1,max)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-1, 0	!last line</a:t>
            </a: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 flipV="1">
            <a:off x="5094514" y="3395250"/>
            <a:ext cx="2044958" cy="357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58550" y="799885"/>
            <a:ext cx="988111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BC definition for each groups are represented by two consecutive lines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eg</a:t>
            </a:r>
            <a:r>
              <a:rPr lang="en-US" sz="2000" dirty="0"/>
              <a:t>, the first two lines represent the inlet blocks definition,</a:t>
            </a:r>
          </a:p>
          <a:p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6,49            !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bctype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number of blocks,  Inlet</a:t>
            </a:r>
          </a:p>
          <a:p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201,2,60     ! start block,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bc-dir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(1,2,3),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bc_minmax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(1,max)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file ends with -1, 0</a:t>
            </a:r>
          </a:p>
          <a:p>
            <a:endParaRPr lang="en-US" sz="2000" dirty="0"/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 flipV="1">
            <a:off x="5094514" y="3641934"/>
            <a:ext cx="2072951" cy="1335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298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5194"/>
            <a:ext cx="6746240" cy="940526"/>
          </a:xfrm>
        </p:spPr>
        <p:txBody>
          <a:bodyPr>
            <a:normAutofit/>
          </a:bodyPr>
          <a:lstStyle/>
          <a:p>
            <a:r>
              <a:rPr lang="en-US" sz="2800" b="1" dirty="0"/>
              <a:t>Edit &amp; Run the NewCaseSetup1.sh Automatic 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226423" y="940527"/>
            <a:ext cx="5538651" cy="534799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600" b="1" dirty="0"/>
              <a:t>4 steps</a:t>
            </a:r>
          </a:p>
          <a:p>
            <a:endParaRPr lang="en-US" dirty="0"/>
          </a:p>
          <a:p>
            <a:r>
              <a:rPr lang="en-US" dirty="0"/>
              <a:t>1 </a:t>
            </a:r>
            <a:r>
              <a:rPr lang="en-US" dirty="0" err="1"/>
              <a:t>processing.out</a:t>
            </a:r>
            <a:endParaRPr lang="en-US" dirty="0"/>
          </a:p>
          <a:p>
            <a:pPr lvl="1"/>
            <a:r>
              <a:rPr lang="en-US" dirty="0"/>
              <a:t>bin_3d_001.dat …</a:t>
            </a:r>
          </a:p>
          <a:p>
            <a:pPr lvl="1"/>
            <a:r>
              <a:rPr lang="en-US" dirty="0" err="1"/>
              <a:t>init.input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2 Pre_bc7</a:t>
            </a:r>
          </a:p>
          <a:p>
            <a:pPr lvl="1"/>
            <a:r>
              <a:rPr lang="en-US" dirty="0"/>
              <a:t>Find all the bc7 </a:t>
            </a:r>
          </a:p>
          <a:p>
            <a:pPr lvl="1"/>
            <a:r>
              <a:rPr lang="en-US" dirty="0"/>
              <a:t>pre_bc7_datain, pre_bc7.err</a:t>
            </a:r>
          </a:p>
          <a:p>
            <a:pPr lvl="1"/>
            <a:endParaRPr lang="en-US" dirty="0"/>
          </a:p>
          <a:p>
            <a:r>
              <a:rPr lang="en-US" dirty="0"/>
              <a:t>3 Sort out other BCs</a:t>
            </a:r>
          </a:p>
          <a:p>
            <a:pPr lvl="1"/>
            <a:r>
              <a:rPr lang="en-US" dirty="0" err="1"/>
              <a:t>bcdefine.datain</a:t>
            </a:r>
            <a:endParaRPr lang="en-US" dirty="0"/>
          </a:p>
          <a:p>
            <a:pPr lvl="1"/>
            <a:r>
              <a:rPr lang="en-US" dirty="0"/>
              <a:t>bcoutput7.datain</a:t>
            </a:r>
          </a:p>
          <a:p>
            <a:pPr lvl="1"/>
            <a:r>
              <a:rPr lang="en-US" dirty="0" err="1"/>
              <a:t>bcoutputbc.datain</a:t>
            </a:r>
            <a:endParaRPr lang="en-US" dirty="0"/>
          </a:p>
          <a:p>
            <a:pPr lvl="1"/>
            <a:r>
              <a:rPr lang="en-US" dirty="0" err="1"/>
              <a:t>bcoutputwall.datain</a:t>
            </a:r>
            <a:endParaRPr lang="en-US" dirty="0"/>
          </a:p>
          <a:p>
            <a:pPr lvl="1"/>
            <a:r>
              <a:rPr lang="en-US" dirty="0" err="1"/>
              <a:t>datain.bc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4 export to output folder</a:t>
            </a:r>
          </a:p>
          <a:p>
            <a:pPr lvl="1"/>
            <a:r>
              <a:rPr lang="en-US" dirty="0"/>
              <a:t>Inside the folder: bin, </a:t>
            </a:r>
            <a:r>
              <a:rPr lang="en-US" dirty="0" err="1"/>
              <a:t>datain.bc,init.input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53760" y="932246"/>
            <a:ext cx="5969429" cy="58477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#! /bin/bash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#1.  --&gt;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init.input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, bin*.dat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echo 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"~~~~~~~~~~~~~~~FASIP </a:t>
            </a:r>
            <a:r>
              <a:rPr lang="en-US" sz="1100" dirty="0" err="1">
                <a:solidFill>
                  <a:srgbClr val="800000"/>
                </a:solidFill>
                <a:latin typeface="Consolas" panose="020B0609020204030204" pitchFamily="49" charset="0"/>
              </a:rPr>
              <a:t>Newcase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 BC setup~~~~~~~~~~~~~~~~"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echo 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"~~~~~~~~~~~~~~~~~~~~~~~~~~~~~~~~~~~~~~~~~~~~~~~~~~~~~"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echo 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"Attention: make sure </a:t>
            </a:r>
            <a:r>
              <a:rPr lang="en-US" sz="1100" dirty="0" err="1">
                <a:solidFill>
                  <a:srgbClr val="800000"/>
                </a:solidFill>
                <a:latin typeface="Consolas" panose="020B0609020204030204" pitchFamily="49" charset="0"/>
              </a:rPr>
              <a:t>bcdefine.datain.small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 is correctly defined"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echo 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"Step 1 generate bin file and </a:t>
            </a:r>
            <a:r>
              <a:rPr lang="en-US" sz="1100" dirty="0" err="1">
                <a:solidFill>
                  <a:srgbClr val="800000"/>
                </a:solidFill>
                <a:latin typeface="Consolas" panose="020B0609020204030204" pitchFamily="49" charset="0"/>
              </a:rPr>
              <a:t>init.input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"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./</a:t>
            </a:r>
            <a:r>
              <a:rPr lang="en-US" sz="11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processing.out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&lt;&lt;EOF</a:t>
            </a:r>
          </a:p>
          <a:p>
            <a:r>
              <a:rPr lang="en-US" sz="1100" dirty="0">
                <a:solidFill>
                  <a:srgbClr val="800080"/>
                </a:solidFill>
                <a:latin typeface="Consolas" panose="020B0609020204030204" pitchFamily="49" charset="0"/>
              </a:rPr>
              <a:t>1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LES-grid-</a:t>
            </a:r>
            <a:r>
              <a:rPr lang="en-US" sz="1100" dirty="0">
                <a:solidFill>
                  <a:srgbClr val="800080"/>
                </a:solidFill>
                <a:latin typeface="Consolas" panose="020B0609020204030204" pitchFamily="49" charset="0"/>
              </a:rPr>
              <a:t>348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sz="1100" dirty="0">
                <a:solidFill>
                  <a:srgbClr val="800080"/>
                </a:solidFill>
                <a:latin typeface="Consolas" panose="020B0609020204030204" pitchFamily="49" charset="0"/>
              </a:rPr>
              <a:t>206050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.x</a:t>
            </a:r>
          </a:p>
          <a:p>
            <a:r>
              <a:rPr lang="en-US" sz="1100" dirty="0">
                <a:solidFill>
                  <a:srgbClr val="800080"/>
                </a:solidFill>
                <a:latin typeface="Consolas" panose="020B0609020204030204" pitchFamily="49" charset="0"/>
              </a:rPr>
              <a:t>3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800080"/>
                </a:solidFill>
                <a:latin typeface="Consolas" panose="020B0609020204030204" pitchFamily="49" charset="0"/>
              </a:rPr>
              <a:t>1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800080"/>
                </a:solidFill>
                <a:latin typeface="Consolas" panose="020B0609020204030204" pitchFamily="49" charset="0"/>
              </a:rPr>
              <a:t>62.0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800080"/>
                </a:solidFill>
                <a:latin typeface="Consolas" panose="020B0609020204030204" pitchFamily="49" charset="0"/>
              </a:rPr>
              <a:t>0.25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800080"/>
                </a:solidFill>
                <a:latin typeface="Consolas" panose="020B0609020204030204" pitchFamily="49" charset="0"/>
              </a:rPr>
              <a:t>0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EOF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echo 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"Step 1 finished"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echo 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"Step 2 find bc7"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./pre_bc7_2d3d.o 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&lt;&lt;EOF</a:t>
            </a:r>
          </a:p>
          <a:p>
            <a:r>
              <a:rPr lang="en-US" sz="1100" dirty="0">
                <a:solidFill>
                  <a:srgbClr val="800080"/>
                </a:solidFill>
                <a:latin typeface="Consolas" panose="020B0609020204030204" pitchFamily="49" charset="0"/>
              </a:rPr>
              <a:t>1d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sz="1100" dirty="0">
                <a:solidFill>
                  <a:srgbClr val="800080"/>
                </a:solidFill>
                <a:latin typeface="Consolas" panose="020B0609020204030204" pitchFamily="49" charset="0"/>
              </a:rPr>
              <a:t>8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800080"/>
                </a:solidFill>
                <a:latin typeface="Consolas" panose="020B0609020204030204" pitchFamily="49" charset="0"/>
              </a:rPr>
              <a:t>3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EOF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echo 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"Step 2 finished, check the pre_bc7.err file "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echo 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"Step 3 sort  </a:t>
            </a:r>
            <a:r>
              <a:rPr lang="en-US" sz="1100" dirty="0" err="1">
                <a:solidFill>
                  <a:srgbClr val="800000"/>
                </a:solidFill>
                <a:latin typeface="Consolas" panose="020B0609020204030204" pitchFamily="49" charset="0"/>
              </a:rPr>
              <a:t>datain.bc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"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 python Sort-Combine_datain_output.py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echo 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"Step 3 finished"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#4 export to output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[ ! -d output ]; then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mkdir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output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fi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mv bin*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datain.bc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init.input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output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882537" y="1665368"/>
            <a:ext cx="2953306" cy="111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10" idx="3"/>
          </p:cNvCxnSpPr>
          <p:nvPr/>
        </p:nvCxnSpPr>
        <p:spPr>
          <a:xfrm>
            <a:off x="3077655" y="2974443"/>
            <a:ext cx="2687419" cy="6400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788229" y="4575812"/>
            <a:ext cx="2160825" cy="3706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4101737" y="5598511"/>
            <a:ext cx="1846767" cy="794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7833911" y="562914"/>
            <a:ext cx="2060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NewCaseSetup1.sh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174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Run the previous steps manually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./</a:t>
            </a:r>
            <a:r>
              <a:rPr lang="en-US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processing.out</a:t>
            </a:r>
            <a:endParaRPr lang="en-US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arenR"/>
            </a:pPr>
            <a:endParaRPr lang="en-US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./pre_bc7_2d3d.o</a:t>
            </a:r>
          </a:p>
          <a:p>
            <a:pPr marL="514350" indent="-514350">
              <a:buFont typeface="+mj-lt"/>
              <a:buAutoNum type="arabicParenR"/>
            </a:pPr>
            <a:endParaRPr lang="en-US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python Sort-Combine_datain_output.py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259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926"/>
            <a:ext cx="10515600" cy="723446"/>
          </a:xfrm>
        </p:spPr>
        <p:txBody>
          <a:bodyPr/>
          <a:lstStyle/>
          <a:p>
            <a:r>
              <a:rPr lang="en-US" b="1" dirty="0"/>
              <a:t>Things to 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8572"/>
            <a:ext cx="10515600" cy="569830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1 Before run the code, check the files are complete</a:t>
            </a:r>
          </a:p>
          <a:p>
            <a:pPr lvl="1"/>
            <a:r>
              <a:rPr lang="en-US" dirty="0" err="1">
                <a:solidFill>
                  <a:srgbClr val="FF00FF"/>
                </a:solidFill>
              </a:rPr>
              <a:t>bcdefine.datain.small</a:t>
            </a:r>
            <a:r>
              <a:rPr lang="en-US" dirty="0">
                <a:solidFill>
                  <a:srgbClr val="FF00FF"/>
                </a:solidFill>
              </a:rPr>
              <a:t>  </a:t>
            </a:r>
          </a:p>
          <a:p>
            <a:pPr lvl="1"/>
            <a:r>
              <a:rPr lang="en-US" dirty="0">
                <a:solidFill>
                  <a:srgbClr val="FF00FF"/>
                </a:solidFill>
              </a:rPr>
              <a:t>Grid file </a:t>
            </a:r>
          </a:p>
          <a:p>
            <a:pPr lvl="1"/>
            <a:r>
              <a:rPr lang="en-US" dirty="0">
                <a:solidFill>
                  <a:srgbClr val="FF00FF"/>
                </a:solidFill>
              </a:rPr>
              <a:t>NewCaseSetup1.sh (check the grid name, </a:t>
            </a:r>
            <a:r>
              <a:rPr lang="en-US" dirty="0" err="1">
                <a:solidFill>
                  <a:srgbClr val="FF00FF"/>
                </a:solidFill>
              </a:rPr>
              <a:t>AoA</a:t>
            </a:r>
            <a:r>
              <a:rPr lang="en-US" dirty="0">
                <a:solidFill>
                  <a:srgbClr val="FF00FF"/>
                </a:solidFill>
              </a:rPr>
              <a:t> and references)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pre_bc7_2d3d.f 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pre_bc7_2d3d.o  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PrebcAll.f</a:t>
            </a:r>
            <a:r>
              <a:rPr lang="en-US" dirty="0">
                <a:solidFill>
                  <a:srgbClr val="0000FF"/>
                </a:solidFill>
              </a:rPr>
              <a:t>  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PrebcAll.o</a:t>
            </a:r>
            <a:r>
              <a:rPr lang="en-US" dirty="0">
                <a:solidFill>
                  <a:srgbClr val="0000FF"/>
                </a:solidFill>
              </a:rPr>
              <a:t>  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processing.out</a:t>
            </a:r>
            <a:r>
              <a:rPr lang="en-US" dirty="0">
                <a:solidFill>
                  <a:srgbClr val="0000FF"/>
                </a:solidFill>
              </a:rPr>
              <a:t> 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Processing.sh 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Sort-Combine_datain_output.py</a:t>
            </a:r>
          </a:p>
          <a:p>
            <a:pPr lvl="1"/>
            <a:endParaRPr lang="en-US" dirty="0"/>
          </a:p>
          <a:p>
            <a:r>
              <a:rPr lang="en-US" dirty="0"/>
              <a:t>2 After run the code, remember to </a:t>
            </a:r>
            <a:r>
              <a:rPr lang="en-US" dirty="0" err="1"/>
              <a:t>doublecheck</a:t>
            </a:r>
            <a:r>
              <a:rPr lang="en-US" dirty="0"/>
              <a:t> the </a:t>
            </a:r>
            <a:r>
              <a:rPr lang="en-US" dirty="0" err="1"/>
              <a:t>init.input</a:t>
            </a:r>
            <a:r>
              <a:rPr lang="en-US" dirty="0"/>
              <a:t> and </a:t>
            </a:r>
            <a:r>
              <a:rPr lang="en-US" dirty="0" err="1"/>
              <a:t>datain.bc</a:t>
            </a:r>
            <a:endParaRPr lang="en-US" dirty="0"/>
          </a:p>
          <a:p>
            <a:pPr lvl="1"/>
            <a:r>
              <a:rPr lang="en-US" dirty="0" err="1"/>
              <a:t>Init.input</a:t>
            </a:r>
            <a:r>
              <a:rPr lang="en-US" dirty="0"/>
              <a:t>: special BC setup for CFJ</a:t>
            </a:r>
          </a:p>
          <a:p>
            <a:pPr lvl="1"/>
            <a:r>
              <a:rPr lang="en-US" dirty="0" err="1"/>
              <a:t>Datain.bc</a:t>
            </a:r>
            <a:r>
              <a:rPr lang="en-US" dirty="0"/>
              <a:t>: check the correct BC definition</a:t>
            </a:r>
          </a:p>
        </p:txBody>
      </p:sp>
    </p:spTree>
    <p:extLst>
      <p:ext uri="{BB962C8B-B14F-4D97-AF65-F5344CB8AC3E}">
        <p14:creationId xmlns:p14="http://schemas.microsoft.com/office/powerpoint/2010/main" val="3610658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653</Words>
  <Application>Microsoft Office PowerPoint</Application>
  <PresentationFormat>Widescreen</PresentationFormat>
  <Paragraphs>141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Consolas</vt:lpstr>
      <vt:lpstr>Parchment</vt:lpstr>
      <vt:lpstr>Times New Roman</vt:lpstr>
      <vt:lpstr>Wingdings</vt:lpstr>
      <vt:lpstr>Office Theme</vt:lpstr>
      <vt:lpstr>Custom Design</vt:lpstr>
      <vt:lpstr>CFJ-A6421 – New case setup</vt:lpstr>
      <vt:lpstr>Steps to generate organized Large mesh</vt:lpstr>
      <vt:lpstr>Multi-Block distribution</vt:lpstr>
      <vt:lpstr>BC setup</vt:lpstr>
      <vt:lpstr>Edit the bcdefine.datain.small </vt:lpstr>
      <vt:lpstr>Edit &amp; Run the NewCaseSetup1.sh Automatic </vt:lpstr>
      <vt:lpstr>Run the previous steps manually</vt:lpstr>
      <vt:lpstr>Things to remember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Yang, Yunchao</dc:creator>
  <cp:lastModifiedBy>Yang, Yunchao</cp:lastModifiedBy>
  <cp:revision>174</cp:revision>
  <dcterms:created xsi:type="dcterms:W3CDTF">2017-01-28T21:54:07Z</dcterms:created>
  <dcterms:modified xsi:type="dcterms:W3CDTF">2017-02-15T23:51:55Z</dcterms:modified>
</cp:coreProperties>
</file>